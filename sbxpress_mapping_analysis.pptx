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2F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sbxpress: transparent minimap2-based
GEX processing for Roche SBX reads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108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39B13"/>
                </a:solidFill>
              </a:rPr>
              <a:t>Mapping ambiguity, multimap behaviour, and P5/P7 orientation — preliminary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CAT02 M2 GEX  ·  2026-07-30  ·  In progress — full-scale P5/P7 run pending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Core 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39B13"/>
                </a:solidFill>
              </a:rPr>
              <a:t>What sbxpress is and isn't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444444"/>
                </a:solidFill>
              </a:rPr>
              <a:t>sbxpress replaces the opaque short-read mapping/assignment path with explicit,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444444"/>
                </a:solidFill>
              </a:rPr>
              <a:t>inspectable minimap2 → annotation → molecule → matrix → cell stages.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444444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444444"/>
                </a:solidFill>
              </a:rPr>
              <a:t>Two objectives in strict order:</a:t>
            </a:r>
          </a:p>
          <a:p>
            <a:pPr lvl="1">
              <a:spcBef>
                <a:spcPts val="400"/>
              </a:spcBef>
            </a:pPr>
            <a:r>
              <a:rPr sz="1500">
                <a:solidFill>
                  <a:srgbClr val="444444"/>
                </a:solidFill>
              </a:rPr>
              <a:t>① Trusted 10x-style baseline  — reproduce relevant decisions; validate against CellRanger.</a:t>
            </a:r>
          </a:p>
          <a:p>
            <a:pPr lvl="1">
              <a:spcBef>
                <a:spcPts val="400"/>
              </a:spcBef>
            </a:pPr>
            <a:r>
              <a:rPr sz="1500">
                <a:solidFill>
                  <a:srgbClr val="444444"/>
                </a:solidFill>
              </a:rPr>
              <a:t>② SBX-specific optimisation  — only after baseline behaviour is validated.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444444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444444"/>
                </a:solidFill>
              </a:rPr>
              <a:t>What sbxpress does not claim yet:</a:t>
            </a:r>
          </a:p>
          <a:p>
            <a:pPr lvl="1">
              <a:spcBef>
                <a:spcPts val="400"/>
              </a:spcBef>
            </a:pPr>
            <a:r>
              <a:rPr sz="1500" b="0">
                <a:solidFill>
                  <a:srgbClr val="444444"/>
                </a:solidFill>
              </a:rPr>
              <a:t>• Drop-in replacement for every reference workflow decision.</a:t>
            </a:r>
          </a:p>
          <a:p>
            <a:pPr lvl="1">
              <a:spcBef>
                <a:spcPts val="400"/>
              </a:spcBef>
            </a:pPr>
            <a:r>
              <a:rPr sz="1500" b="0">
                <a:solidFill>
                  <a:srgbClr val="444444"/>
                </a:solidFill>
              </a:rPr>
              <a:t>• Full validation of molecule calling, cell calling, or matrix construction.</a:t>
            </a:r>
          </a:p>
          <a:p>
            <a:pPr lvl="1">
              <a:spcBef>
                <a:spcPts val="400"/>
              </a:spcBef>
            </a:pPr>
            <a:r>
              <a:rPr sz="1500" b="0">
                <a:solidFill>
                  <a:srgbClr val="444444"/>
                </a:solidFill>
              </a:rPr>
              <a:t>• Demonstrated improvement from longer SBX cDNA reads (that experiment is in progress).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Pipeline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39B13"/>
                </a:solidFill>
              </a:rPr>
              <a:t>Two input paths, one shared tagged-cDNA handoff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44"/>
                </a:solidFill>
              </a:rPr>
              <a:t>Raw SBX reads  →  sbxpress extract  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087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44"/>
                </a:solidFill>
              </a:rPr>
              <a:t>Illumina R1/R2  →  sbxpress illumina  ┘  →  tagged cDNA FASTQ  →  minimap2  →  annotation  →  molecules  →  matrix  →  cells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2377440"/>
          <a:ext cx="11247120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011680"/>
                <a:gridCol w="2011680"/>
                <a:gridCol w="5029200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Mode</a:t>
                      </a:r>
                    </a:p>
                  </a:txBody>
                  <a:tcPr>
                    <a:solidFill>
                      <a:srgbClr val="052F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minimap2 flag</a:t>
                      </a:r>
                    </a:p>
                  </a:txBody>
                  <a:tcPr>
                    <a:solidFill>
                      <a:srgbClr val="052F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Annotation flag</a:t>
                      </a:r>
                    </a:p>
                  </a:txBody>
                  <a:tcPr>
                    <a:solidFill>
                      <a:srgbClr val="052F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Valid for</a:t>
                      </a:r>
                    </a:p>
                  </a:txBody>
                  <a:tcPr>
                    <a:solidFill>
                      <a:srgbClr val="052F5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Production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--secondary=no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--unordered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Counts, molecules, matrix, cell calling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Multimap diagnostic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-N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--multimap-tags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NH/HI/mm accounting; secondary-hit classification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36576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828B"/>
                </a:solidFill>
              </a:rPr>
              <a:t>NH=1 means one reported alignment under the chosen mapper policy — not one biologically unique gene.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1148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44444"/>
                </a:solidFill>
              </a:rPr>
              <a:t>Tags written by sbxpress annotate: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480560"/>
            <a:ext cx="11430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GX  compatible gene IDs  ·  GN  gene names  ·  TX  transcript IDs  ·  RE  region class (E/N/I = exonic/intronic/intergenic)  ·  NH / HI  reported hit count / index  ·  mm  single-gene multimap rescue flag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M1 — The central paradox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39B13"/>
                </a:solidFill>
              </a:rPr>
              <a:t>Full-scale P5/P7 production BAMs  ·  ~61M sampled primary records  ·  1-in-10 systematic sample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28B"/>
                </a:solidFill>
              </a:rPr>
              <a:t>Longer reads align more confidently (MAPQ ↑) but land in annotated gene territory less often (GX=1% ↓).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600200"/>
          <a:ext cx="987552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371600"/>
                <a:gridCol w="1371600"/>
                <a:gridCol w="1463040"/>
                <a:gridCol w="137160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Length bin</a:t>
                      </a:r>
                    </a:p>
                  </a:txBody>
                  <a:tcPr>
                    <a:solidFill>
                      <a:srgbClr val="052F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P5  GX=1%</a:t>
                      </a:r>
                    </a:p>
                  </a:txBody>
                  <a:tcPr>
                    <a:solidFill>
                      <a:srgbClr val="052F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P5  MAPQ</a:t>
                      </a:r>
                    </a:p>
                  </a:txBody>
                  <a:tcPr>
                    <a:solidFill>
                      <a:srgbClr val="052F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P5  clip%</a:t>
                      </a:r>
                    </a:p>
                  </a:txBody>
                  <a:tcPr>
                    <a:solidFill>
                      <a:srgbClr val="052F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P7  GX=1%</a:t>
                      </a:r>
                    </a:p>
                  </a:txBody>
                  <a:tcPr>
                    <a:solidFill>
                      <a:srgbClr val="052F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P7  MAPQ</a:t>
                      </a:r>
                    </a:p>
                  </a:txBody>
                  <a:tcPr>
                    <a:solidFill>
                      <a:srgbClr val="052F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P7  clip%</a:t>
                      </a:r>
                    </a:p>
                  </a:txBody>
                  <a:tcPr>
                    <a:solidFill>
                      <a:srgbClr val="052F5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≤250 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60.0%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52.1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3.1%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62.3%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53.3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251–300 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55.5%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54.1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57.6%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54.7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301–350 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53.4%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55.0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5.2%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55.7%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55.6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351–400 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52.5%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55.4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7.4%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55.3%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56.4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≥401 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51.6%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54.8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15.6%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55.7%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56.8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5.2%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4160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39B13"/>
                </a:solidFill>
              </a:rPr>
              <a:t>P5 clip% diverges sharply at ≥401 bp (15.6% vs 5.2% for P7) — see slide M2.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663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GX=0 (no gene assigned) rises 39%→48% P5, 37%→44% P7 across the length range. Multi-gene (GX≥2) stays flat at ~0.6% — the lost single-gene reads go to unannotated space, not to a competing gene.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6309360"/>
            <a:ext cx="11612880" cy="457200"/>
          </a:xfrm>
          <a:prstGeom prst="rect">
            <a:avLst/>
          </a:prstGeom>
          <a:solidFill>
            <a:srgbClr val="F2F2F2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i="1">
                <a:solidFill>
                  <a:srgbClr val="444444"/>
                </a:solidFill>
              </a:rPr>
              <a:t>⚠ Baseline (--secondary=no) BAMs; NH=1 is trivially 100% here and is not shown. GX=1% decline is a separate signal from the NH=1 question and is not yet decomposed by secondary-hit class at this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M2 — P5 vs P7 orientation effect at long lengths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39B13"/>
                </a:solidFill>
              </a:rPr>
              <a:t>Same data source as M1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28B"/>
                </a:solidFill>
              </a:rPr>
              <a:t>The orientation effect is invisible in short reads and only surfaces in the longest-read tail.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645920"/>
          <a:ext cx="1033272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560320"/>
                <a:gridCol w="2560320"/>
                <a:gridCol w="3200400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Length bin</a:t>
                      </a:r>
                    </a:p>
                  </a:txBody>
                  <a:tcPr>
                    <a:solidFill>
                      <a:srgbClr val="052F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P5 soft-clip%</a:t>
                      </a:r>
                    </a:p>
                  </a:txBody>
                  <a:tcPr>
                    <a:solidFill>
                      <a:srgbClr val="052F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P7 soft-clip%</a:t>
                      </a:r>
                    </a:p>
                  </a:txBody>
                  <a:tcPr>
                    <a:solidFill>
                      <a:srgbClr val="052F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Δ (P5−P7)</a:t>
                      </a:r>
                    </a:p>
                  </a:txBody>
                  <a:tcPr>
                    <a:solidFill>
                      <a:srgbClr val="052F5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444"/>
                          </a:solidFill>
                        </a:rPr>
                        <a:t>≤250 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444"/>
                          </a:solidFill>
                        </a:rPr>
                        <a:t>3.1%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444"/>
                          </a:solidFill>
                        </a:rPr>
                        <a:t>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444"/>
                          </a:solidFill>
                        </a:rPr>
                        <a:t>−0.2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444"/>
                          </a:solidFill>
                        </a:rPr>
                        <a:t>251–300 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444"/>
                          </a:solidFill>
                        </a:rPr>
                        <a:t>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444"/>
                          </a:solidFill>
                        </a:rPr>
                        <a:t>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444"/>
                          </a:solidFill>
                        </a:rPr>
                        <a:t>+0.6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444"/>
                          </a:solidFill>
                        </a:rPr>
                        <a:t>301–350 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444"/>
                          </a:solidFill>
                        </a:rPr>
                        <a:t>5.2%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444"/>
                          </a:solidFill>
                        </a:rPr>
                        <a:t>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444"/>
                          </a:solidFill>
                        </a:rPr>
                        <a:t>+1.3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444"/>
                          </a:solidFill>
                        </a:rPr>
                        <a:t>351–400 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444"/>
                          </a:solidFill>
                        </a:rPr>
                        <a:t>7.4%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444"/>
                          </a:solidFill>
                        </a:rPr>
                        <a:t>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444"/>
                          </a:solidFill>
                        </a:rPr>
                        <a:t>+3.1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444"/>
                          </a:solidFill>
                        </a:rPr>
                        <a:t>≥401 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444"/>
                          </a:solidFill>
                        </a:rPr>
                        <a:t>15.6%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444"/>
                          </a:solidFill>
                        </a:rPr>
                        <a:t>5.2%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444"/>
                          </a:solidFill>
                        </a:rPr>
                        <a:t>+10.4 pp 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7033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444444"/>
                </a:solidFill>
              </a:rPr>
              <a:t>Working hypothesis: SBX signal quality degrades over read position.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44444"/>
                </a:solidFill>
              </a:rPr>
              <a:t>  P5 reads CB+UMI first → cDNA is decoded second → longer cDNA reads accumulate more degradation → excess clipping.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44444"/>
                </a:solidFill>
              </a:rPr>
              <a:t>  P7 reads cDNA first → CB/UMI degrades instead → lower parse rate, but surviving cDNA reads are cleaner.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44444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44444"/>
                </a:solidFill>
              </a:rPr>
              <a:t>Same mechanism explains P7's better barcode accuracy (76.7% vs 68.4% whitelist hit rate in the cross-platform audit).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44444"/>
                </a:solidFill>
              </a:rPr>
              <a:t>The length-dependent clip divergence is new evidence — not previously characterised at full scale.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309360"/>
            <a:ext cx="11612880" cy="457200"/>
          </a:xfrm>
          <a:prstGeom prst="rect">
            <a:avLst/>
          </a:prstGeom>
          <a:solidFill>
            <a:srgbClr val="F2F2F2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i="1">
                <a:solidFill>
                  <a:srgbClr val="444444"/>
                </a:solidFill>
              </a:rPr>
              <a:t>⚠ Confirm before this slide ships: P5/P7 here are the same molecule in two orientations, not 10x 5'/3' capture-chemistry variants (different exon coverage would create a similar pattern for unrelated reasons).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M3 — Where secondary hits actually 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39B13"/>
                </a:solidFill>
              </a:rPr>
              <a:t>M2 compact cohort  ·  sbxpress illumina path  ·  ~9.4M reads  ·  250–650 bp range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28B"/>
                </a:solidFill>
              </a:rPr>
              <a:t>When a longer read picks up a secondary hit, it almost never lands on a competing annotated gene.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600200"/>
          <a:ext cx="112471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828800"/>
                <a:gridCol w="6858000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Secondary class</a:t>
                      </a:r>
                    </a:p>
                  </a:txBody>
                  <a:tcPr>
                    <a:solidFill>
                      <a:srgbClr val="052F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Typical fraction</a:t>
                      </a:r>
                    </a:p>
                  </a:txBody>
                  <a:tcPr>
                    <a:solidFill>
                      <a:srgbClr val="052F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What it means</a:t>
                      </a:r>
                    </a:p>
                  </a:txBody>
                  <a:tcPr>
                    <a:solidFill>
                      <a:srgbClr val="052F5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unannotated_mapped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55–58%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Genomic hit, no annotated gene — pseudogene, repeat, annotation gap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decoy_other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19–27%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Random/decoy chromosome — AS gap ≈ 0 (tied placement to low-complexity sequence)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diff_gene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20–22%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Hit on a different gene — paralog or shared exon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same_gene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1–2%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Secondary confirms primary gene — mm rescue candidate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37033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44444"/>
                </a:solidFill>
              </a:rPr>
              <a:t>AS score gap (primary − secondary) by class: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690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</a:rPr>
              <a:t>diff_gene:  median gap grows with read length (6 bp at ≤250 → 9 bp at ≥401).  Longer reads are better differentiated from alternative gene placements, not worse.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</a:rPr>
              <a:t>decoy_other:  median gap ≈ 0 across all bins.  These are tied placements to repeat/low-complexity sequence — a filter candidate, not a length effect.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</a:rPr>
              <a:t>same_gene:  median gap 0–3 bp (nearly tied, expected for the same locus).  mm rescue pool is real but tiny (~1–2% of secondaries).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6309360"/>
            <a:ext cx="11612880" cy="457200"/>
          </a:xfrm>
          <a:prstGeom prst="rect">
            <a:avLst/>
          </a:prstGeom>
          <a:solidFill>
            <a:srgbClr val="F2F2F2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i="1">
                <a:solidFill>
                  <a:srgbClr val="444444"/>
                </a:solidFill>
              </a:rPr>
              <a:t>⚠ M2 compact cohort only (sbxpress illumina path). NH=1 fraction is flat at 91–92% across length bins in this cohort. Full-scale P5/P7 diagnostic run in progress — will confirm whether secondary-hit composition shifts when NH=1 does decline with length.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M4 — Multimap mode changes almost nothing downstream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39B13"/>
                </a:solidFill>
              </a:rPr>
              <a:t>Preliminary  ·  ~9.5M read subsets  ·  full-scale P5/P7 run in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44444"/>
                </a:solidFill>
              </a:rPr>
              <a:t>Baseline vs multimap arm (M2 compact):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463040"/>
          <a:ext cx="950976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103120"/>
                <a:gridCol w="2103120"/>
                <a:gridCol w="2743200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052F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Baseline</a:t>
                      </a:r>
                    </a:p>
                  </a:txBody>
                  <a:tcPr>
                    <a:solidFill>
                      <a:srgbClr val="052F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Multimap</a:t>
                      </a:r>
                    </a:p>
                  </a:txBody>
                  <a:tcPr>
                    <a:solidFill>
                      <a:srgbClr val="052F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Δ</a:t>
                      </a:r>
                    </a:p>
                  </a:txBody>
                  <a:tcPr>
                    <a:solidFill>
                      <a:srgbClr val="052F5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Molecules counted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5,798,640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5,798,793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+153  (0.003%)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Cells called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26,303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26,305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+2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Filtered UMI 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7,676,750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7,677,264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+514  (0.007%)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29260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44444"/>
                </a:solidFill>
              </a:rPr>
              <a:t>Read-name-matched GX churn (all 3 datasets):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3291840"/>
          <a:ext cx="1124712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280160"/>
                <a:gridCol w="1554480"/>
                <a:gridCol w="1691640"/>
                <a:gridCol w="1554480"/>
                <a:gridCol w="169164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Dataset</a:t>
                      </a:r>
                    </a:p>
                  </a:txBody>
                  <a:tcPr>
                    <a:solidFill>
                      <a:srgbClr val="052F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Reads</a:t>
                      </a:r>
                    </a:p>
                  </a:txBody>
                  <a:tcPr>
                    <a:solidFill>
                      <a:srgbClr val="052F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Lost single-gene</a:t>
                      </a:r>
                    </a:p>
                  </a:txBody>
                  <a:tcPr>
                    <a:solidFill>
                      <a:srgbClr val="052F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Lost → 0 / → 2+ genes</a:t>
                      </a:r>
                    </a:p>
                  </a:txBody>
                  <a:tcPr>
                    <a:solidFill>
                      <a:srgbClr val="052F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Gained single-gene</a:t>
                      </a:r>
                    </a:p>
                  </a:txBody>
                  <a:tcPr>
                    <a:solidFill>
                      <a:srgbClr val="052F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mm-tagged gains</a:t>
                      </a:r>
                    </a:p>
                  </a:txBody>
                  <a:tcPr>
                    <a:solidFill>
                      <a:srgbClr val="052F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Net Δ</a:t>
                      </a:r>
                    </a:p>
                  </a:txBody>
                  <a:tcPr>
                    <a:solidFill>
                      <a:srgbClr val="052F5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444"/>
                          </a:solidFill>
                        </a:rPr>
                        <a:t>M2 compact (sbxpress illumina)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444"/>
                          </a:solidFill>
                        </a:rPr>
                        <a:t>9,419,913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444"/>
                          </a:solidFill>
                        </a:rPr>
                        <a:t>501  (0.009%)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444"/>
                          </a:solidFill>
                        </a:rPr>
                        <a:t>475 / 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444"/>
                          </a:solidFill>
                        </a:rPr>
                        <a:t>652  (0.018%)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444"/>
                          </a:solidFill>
                        </a:rPr>
                        <a:t>115 / 652 (17.6%)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444"/>
                          </a:solidFill>
                        </a:rPr>
                        <a:t>+151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444"/>
                          </a:solidFill>
                        </a:rPr>
                        <a:t>SBX P5 prelim (shard prefix)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444"/>
                          </a:solidFill>
                        </a:rPr>
                        <a:t>9,497,915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444"/>
                          </a:solidFill>
                        </a:rPr>
                        <a:t>379  (0.007%)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444"/>
                          </a:solidFill>
                        </a:rPr>
                        <a:t>351 / 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444"/>
                          </a:solidFill>
                        </a:rPr>
                        <a:t>624  (0.014%)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444"/>
                          </a:solidFill>
                        </a:rPr>
                        <a:t>89 / 624 (14.3%)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444"/>
                          </a:solidFill>
                        </a:rPr>
                        <a:t>+232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444"/>
                          </a:solidFill>
                        </a:rPr>
                        <a:t>SBX P7 prelim (shard prefix)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444"/>
                          </a:solidFill>
                        </a:rPr>
                        <a:t>9,513,521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444"/>
                          </a:solidFill>
                        </a:rPr>
                        <a:t>284  (0.005%)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444"/>
                          </a:solidFill>
                        </a:rPr>
                        <a:t>263 / 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444"/>
                          </a:solidFill>
                        </a:rPr>
                        <a:t>591  (0.015%)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444"/>
                          </a:solidFill>
                        </a:rPr>
                        <a:t>87 / 591 (14.7%)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444"/>
                          </a:solidFill>
                        </a:rPr>
                        <a:t>+303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53492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Key finding: ~93–95% of 'losses' drop to zero compatible genes (not multi-gene ambiguity). Only 14–18% of 'gains' carry the mm tag (genuine multimap rescue). The remaining churn traces to minimap2 choosing a slightly different primary alignment between --secondary=no and -N 10 runs — expected mapper behaviour.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6309360"/>
            <a:ext cx="11612880" cy="457200"/>
          </a:xfrm>
          <a:prstGeom prst="rect">
            <a:avLst/>
          </a:prstGeom>
          <a:solidFill>
            <a:srgbClr val="F2F2F2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i="1">
                <a:solidFill>
                  <a:srgbClr val="444444"/>
                </a:solidFill>
              </a:rPr>
              <a:t>⚠ Preliminary shard-prefix subsamples, not random draws or full-scale runs. Full-scale P5/P7 run in progress — confirms whether rates hold at 1.2B reads per orientation. These results support keeping --secondary=no as the production default.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Validation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39B13"/>
                </a:solidFill>
              </a:rPr>
              <a:t>What is done, what is pending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88720"/>
          <a:ext cx="117043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400800"/>
                <a:gridCol w="3291840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>
                    <a:solidFill>
                      <a:srgbClr val="052F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052F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052F5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BAM → matrix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Feature order, barcode order, sparse entries, MEX/HDF5 layout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✓ Exact match validated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Mapping / annotation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Tag assignment, multimap behaviour, gene/transcript evidence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⏳ Partial — compact cohort complete; full-scale in progress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Molecule calling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CB+UB+GX groups, UMI correction, collision resolution, xf selection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⏳ Pending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Cell calling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Called barcode set and filtered per-cell matrix values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⏳ Pending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3474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44444"/>
                </a:solidFill>
              </a:rPr>
              <a:t>Acceptance criteria: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b="0">
                <a:solidFill>
                  <a:srgbClr val="444444"/>
                </a:solidFill>
              </a:rPr>
              <a:t>• Exact equality where semantics are deterministic (e.g. BAM→matrix reconstruction).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444444"/>
                </a:solidFill>
              </a:rPr>
              <a:t>• Documented, explainable deviation everywhere else — not just 'close enough'.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444444"/>
                </a:solidFill>
              </a:rPr>
              <a:t>• No SBX-specific pipeline change ships until the baseline validation is complete.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39B13"/>
                </a:solidFill>
              </a:rPr>
              <a:t>In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444444"/>
                </a:solidFill>
              </a:rPr>
              <a:t>① Full-scale P5/P7 diagnostic run  (in progress — launched 2026-07-30)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NH=1-by-length at 1.2B reads per orientation.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Baseline vs multimap downstream impact at production scale.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Secondary-hit composition on real long SBX reads (not compact fixture).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44444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44444"/>
                </a:solidFill>
              </a:rPr>
              <a:t>② Complete baseline validation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Molecule calling: UMI correction, collision resolution, xf representative selection.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Cell calling: called barcode set and filtered matrix values vs CellRanger.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44444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44444"/>
                </a:solidFill>
              </a:rPr>
              <a:t>③ Fragment-length optimisation  (after ① and ②)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Extend length bins below 250 bp; compute unmapped-rate-by-length from pre-alignment distribution.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Get reads-per-run vs target-molecule-length from device throughput data.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Only then claim a fragment-length sweet spot.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44444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44444"/>
                </a:solidFill>
              </a:rPr>
              <a:t>④ SBX-specific A/B experiments  (after ① ② ③)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Gene-aware multimap rescue  ·  length-aware trimming/filtering  ·  revised collision model.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